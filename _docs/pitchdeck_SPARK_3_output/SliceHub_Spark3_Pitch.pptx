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8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4E7D2"/>
                </a:solidFill>
              </a:defRPr>
            </a:pPr>
            <a:r>
              <a:t>SliceHub Enterprise</a:t>
            </a:r>
          </a:p>
          <a:p>
            <a:pPr>
              <a:defRPr sz="2000">
                <a:solidFill>
                  <a:srgbClr val="F3C76D"/>
                </a:solidFill>
              </a:defRPr>
            </a:pPr>
            <a:r>
              <a:t>System operacyjny gastronomii · Spark 3.0 Accelerator</a:t>
            </a:r>
            <a:br/>
            <a:r>
              <a:t>„Okno do restauracji, nie siatka produktów” (_docs/00_PAMIEC_SYSTEMU — Prawo VII)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E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3C76D"/>
                </a:solidFill>
              </a:defRPr>
            </a:pPr>
            <a:r>
              <a:t>Problem rynku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E6E1D7"/>
                </a:solidFill>
              </a:defRPr>
            </a:pPr>
            <a:r>
              <a:t>Lokal utyka między agregatorem (ginie marka) a backoffice (POS, magazyn, ceny) bez spójnego doświadczenia online.</a:t>
            </a:r>
          </a:p>
          <a:p>
            <a:pPr>
              <a:spcAft>
                <a:spcPts val="1000"/>
              </a:spcAft>
              <a:defRPr sz="1500">
                <a:solidFill>
                  <a:srgbClr val="E6E1D7"/>
                </a:solidFill>
              </a:defRPr>
            </a:pPr>
            <a:r>
              <a:t>Klient widzi „sklep SKU”; restauracja traci teatr marki i nie spiętego food costu z tym, co wisi na zdjęciu.</a:t>
            </a:r>
          </a:p>
          <a:p>
            <a:pPr>
              <a:spcAft>
                <a:spcPts val="1000"/>
              </a:spcAft>
              <a:defRPr sz="1500">
                <a:solidFill>
                  <a:srgbClr val="E6E1D7"/>
                </a:solidFill>
              </a:defRPr>
            </a:pPr>
            <a:r>
              <a:t>„AI w menu” często = kolejny filtr — nie przewaga produktowa (nasze Prawo VII: innowacja albo nic).</a:t>
            </a:r>
          </a:p>
          <a:p>
            <a:pPr>
              <a:defRPr sz="1100" i="1">
                <a:solidFill>
                  <a:srgbClr val="A0968C"/>
                </a:solidFill>
              </a:defRPr>
            </a:pPr>
            <a:r>
              <a:t>Źródło: _docs/00_PAMIEC_SYSTEMU.md, _docs/canvasy/SliceHub Three Directions.md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E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3C76D"/>
                </a:solidFill>
              </a:defRPr>
            </a:pPr>
            <a:r>
              <a:t>Rozwiązanie — jedna platforma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E6E1D7"/>
                </a:solidFill>
              </a:defRPr>
            </a:pPr>
            <a:r>
              <a:t>Wielonajemczy OS: menu temporalne, macierz cen omnichannel (POS / Takeaway / Delivery), magazyn, logistyka, POS, KDS, kelner, stoliki.</a:t>
            </a:r>
          </a:p>
          <a:p>
            <a:pPr>
              <a:spcAft>
                <a:spcPts val="1000"/>
              </a:spcAft>
              <a:defRPr sz="1500">
                <a:solidFill>
                  <a:srgbClr val="E6E1D7"/>
                </a:solidFill>
              </a:defRPr>
            </a:pPr>
            <a:r>
              <a:t>Manager: Studio + Director (scena dania) + Style Conductor + Harmony Score — „kinowe zaplecze”, nie tylko CRUD.</a:t>
            </a:r>
          </a:p>
          <a:p>
            <a:pPr>
              <a:spcAft>
                <a:spcPts val="1000"/>
              </a:spcAft>
              <a:defRPr sz="1500">
                <a:solidFill>
                  <a:srgbClr val="E6E1D7"/>
                </a:solidFill>
              </a:defRPr>
            </a:pPr>
            <a:r>
              <a:t>Klient: Scena Drzwi → Counter / Living Table → checkout gościnny → Track z ETA i mapą kierowcy.</a:t>
            </a:r>
          </a:p>
          <a:p>
            <a:pPr>
              <a:defRPr sz="1100" i="1">
                <a:solidFill>
                  <a:srgbClr val="A0968C"/>
                </a:solidFill>
              </a:defRPr>
            </a:pPr>
            <a:r>
              <a:t>Źródło: _docs/15_KIERUNEK_ONLINE.md (droga B: Counter + Drzwi), _docs/00_PAMIEC_SYSTEMU.md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E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3C76D"/>
                </a:solidFill>
              </a:defRPr>
            </a:pPr>
            <a:r>
              <a:t>Perły techniczne — integralność i bezpieczeństwo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E6E1D7"/>
                </a:solidFill>
              </a:defRPr>
            </a:pPr>
            <a:r>
              <a:t>CartEngine wyłącznie na serwerze — frontend nigdy nie wysyła cen ani totali (Prawo IV).</a:t>
            </a:r>
          </a:p>
          <a:p>
            <a:pPr>
              <a:spcAft>
                <a:spcPts val="1000"/>
              </a:spcAft>
              <a:defRPr sz="1500">
                <a:solidFill>
                  <a:srgbClr val="E6E1D7"/>
                </a:solidFill>
              </a:defRPr>
            </a:pPr>
            <a:r>
              <a:t>Multi-tenant: każde SQL z barierą tenant_id; silosy sh_ / sys_ / wh_ łączone tylko po SKU / ascii_key (Konstytucja §9).</a:t>
            </a:r>
          </a:p>
          <a:p>
            <a:pPr>
              <a:spcAft>
                <a:spcPts val="1000"/>
              </a:spcAft>
              <a:defRPr sz="1500">
                <a:solidFill>
                  <a:srgbClr val="E6E1D7"/>
                </a:solidFill>
              </a:defRPr>
            </a:pPr>
            <a:r>
              <a:t>Event outbox + worker webhooków; inbound callbacks; CredentialVault (libsodium) na sekrety integracji.</a:t>
            </a:r>
          </a:p>
          <a:p>
            <a:pPr>
              <a:spcAft>
                <a:spcPts val="1000"/>
              </a:spcAft>
              <a:defRPr sz="1500">
                <a:solidFill>
                  <a:srgbClr val="E6E1D7"/>
                </a:solidFill>
              </a:defRPr>
            </a:pPr>
            <a:r>
              <a:t>Payment lock w Driver App: dostawa dopiero po rozliczeniu gotówka/karta zgodnie z silnikiem kursów.</a:t>
            </a:r>
          </a:p>
          <a:p>
            <a:pPr>
              <a:defRPr sz="1100" i="1">
                <a:solidFill>
                  <a:srgbClr val="A0968C"/>
                </a:solidFill>
              </a:defRPr>
            </a:pPr>
            <a:r>
              <a:t>Źródło: _docs/01_KONSTYTUCJA.md, _docs/02_ARCHITEKTURA.md, api/courses/engine.php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E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3C76D"/>
                </a:solidFill>
              </a:defRPr>
            </a:pPr>
            <a:r>
              <a:t>Perły produktowe — Online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E6E1D7"/>
                </a:solidFill>
              </a:defRPr>
            </a:pPr>
            <a:r>
              <a:t>Hollywood Director's Suite: MagicEnhance, MagicBake, MagicRelight, MagicColorGrade, MagicDust, MagicCompanions.</a:t>
            </a:r>
          </a:p>
          <a:p>
            <a:pPr>
              <a:spcAft>
                <a:spcPts val="1000"/>
              </a:spcAft>
              <a:defRPr sz="1500">
                <a:solidFill>
                  <a:srgbClr val="E6E1D7"/>
                </a:solidFill>
              </a:defRPr>
            </a:pPr>
            <a:r>
              <a:t>Style Conductor — jednym przebiegiem zmiana tożsamości wizualnej całej kategorii (LUT, światło, companions, typografia).</a:t>
            </a:r>
          </a:p>
          <a:p>
            <a:pPr>
              <a:spcAft>
                <a:spcPts val="1000"/>
              </a:spcAft>
              <a:defRPr sz="1500">
                <a:solidFill>
                  <a:srgbClr val="E6E1D7"/>
                </a:solidFill>
              </a:defRPr>
            </a:pPr>
            <a:r>
              <a:t>Harmony Score — transparentny model (kompletność / dopracowanie / spójność) + actionable outliers, nie ozdoba.</a:t>
            </a:r>
          </a:p>
          <a:p>
            <a:pPr>
              <a:spcAft>
                <a:spcPts val="1000"/>
              </a:spcAft>
              <a:defRPr sz="1500">
                <a:solidFill>
                  <a:srgbClr val="E6E1D7"/>
                </a:solidFill>
              </a:defRPr>
            </a:pPr>
            <a:r>
              <a:t>Wspólny core/js/scene_renderer.js — WYSIWYG Directora = render storefrontu 1:1 dla warstw pizzy (M2.1).</a:t>
            </a:r>
          </a:p>
          <a:p>
            <a:pPr>
              <a:spcAft>
                <a:spcPts val="1000"/>
              </a:spcAft>
              <a:defRPr sz="1500">
                <a:solidFill>
                  <a:srgbClr val="E6E1D7"/>
                </a:solidFill>
              </a:defRPr>
            </a:pPr>
            <a:r>
              <a:t>12 presetów stylów kinowych (m022), LUT Library, kamery (m.in. auto-perspective, presety).</a:t>
            </a:r>
          </a:p>
          <a:p>
            <a:pPr>
              <a:defRPr sz="1100" i="1">
                <a:solidFill>
                  <a:srgbClr val="A0968C"/>
                </a:solidFill>
              </a:defRPr>
            </a:pPr>
            <a:r>
              <a:t>Źródło: _docs/15_KIERUNEK_ONLINE.md §2.4, _docs/canvasy/SliceHub Three Directions.md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E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3C76D"/>
                </a:solidFill>
              </a:defRPr>
            </a:pPr>
            <a:r>
              <a:t>Perły operacyjne — co już stoi w kodzie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E6E1D7"/>
                </a:solidFill>
              </a:defRPr>
            </a:pPr>
            <a:r>
              <a:t>Warehouse: pełny obieg dokumentów (PZ, RW, KOR, MM, inwentaryzacja) + wiele UI modułu magazynu.</a:t>
            </a:r>
          </a:p>
          <a:p>
            <a:pPr>
              <a:spcAft>
                <a:spcPts val="1000"/>
              </a:spcAft>
              <a:defRPr sz="1500">
                <a:solidFill>
                  <a:srgbClr val="E6E1D7"/>
                </a:solidFill>
              </a:defRPr>
            </a:pPr>
            <a:r>
              <a:t>Courses + Dispatcher + Driver PWA: K-system kursów, L-kolejka przystanków, emergency recall (heading=-999).</a:t>
            </a:r>
          </a:p>
          <a:p>
            <a:pPr>
              <a:spcAft>
                <a:spcPts val="1000"/>
              </a:spcAft>
              <a:defRPr sz="1500">
                <a:solidFill>
                  <a:srgbClr val="E6E1D7"/>
                </a:solidFill>
              </a:defRPr>
            </a:pPr>
            <a:r>
              <a:t>Track storefrontu: live ETA, hero image, pozycje, pinezka restauracji i kierowcy (_docs/00 — Faza E DONE).</a:t>
            </a:r>
          </a:p>
          <a:p>
            <a:pPr>
              <a:spcAft>
                <a:spcPts val="1000"/>
              </a:spcAft>
              <a:defRPr sz="1500">
                <a:solidFill>
                  <a:srgbClr val="E6E1D7"/>
                </a:solidFill>
              </a:defRPr>
            </a:pPr>
            <a:r>
              <a:t>Offline-first POS: świadomy FREEZE do Anti-Corruption Layer — dojrzała decyzja architektoniczna, nie chaos.</a:t>
            </a:r>
          </a:p>
          <a:p>
            <a:pPr>
              <a:defRPr sz="1100" i="1">
                <a:solidFill>
                  <a:srgbClr val="A0968C"/>
                </a:solidFill>
              </a:defRPr>
            </a:pPr>
            <a:r>
              <a:t>Źródło: _docs/02_ARCHITEKTURA.md, _docs/00_PAMIEC_SYSTEMU.md (FREEZE NOTICE)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E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3C76D"/>
                </a:solidFill>
              </a:defRPr>
            </a:pPr>
            <a:r>
              <a:t>Innowacja roadmapy (nie slid na „jutro”)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E6E1D7"/>
                </a:solidFill>
              </a:defRPr>
            </a:pPr>
            <a:r>
              <a:t>MVP Fazy 2: Droga B — Drzwi + Counter + Living Table (6–8 tyg. ramy z dokumentu decyzyjnego).</a:t>
            </a:r>
          </a:p>
          <a:p>
            <a:pPr>
              <a:spcAft>
                <a:spcPts val="1000"/>
              </a:spcAft>
              <a:defRPr sz="1500">
                <a:solidFill>
                  <a:srgbClr val="E6E1D7"/>
                </a:solidFill>
              </a:defRPr>
            </a:pPr>
            <a:r>
              <a:t>Faza 3: Restaurant Viewfinder — jedna scena, swipe w 4 kierunkach (menu / kuchnia / sala / koszyk); unikalny kompromis A/C.</a:t>
            </a:r>
          </a:p>
          <a:p>
            <a:pPr>
              <a:spcAft>
                <a:spcPts val="1000"/>
              </a:spcAft>
              <a:defRPr sz="1500">
                <a:solidFill>
                  <a:srgbClr val="E6E1D7"/>
                </a:solidFill>
              </a:defRPr>
            </a:pPr>
            <a:r>
              <a:t>Faza 5+: pełny „Film” pięciu scen — świadomie odłożony (koszt, performance, ryzyko).</a:t>
            </a:r>
          </a:p>
          <a:p>
            <a:pPr>
              <a:spcAft>
                <a:spcPts val="1000"/>
              </a:spcAft>
              <a:defRPr sz="1500">
                <a:solidFill>
                  <a:srgbClr val="E6E1D7"/>
                </a:solidFill>
              </a:defRPr>
            </a:pPr>
            <a:r>
              <a:t>G3 AI Jobs (sh_ai_jobs + worker) — odłożone do osobnej fazy AI (jasna granica scope).</a:t>
            </a:r>
          </a:p>
          <a:p>
            <a:pPr>
              <a:defRPr sz="1100" i="1">
                <a:solidFill>
                  <a:srgbClr val="A0968C"/>
                </a:solidFill>
              </a:defRPr>
            </a:pPr>
            <a:r>
              <a:t>Źródło: _docs/15_KIERUNEK_ONLINE.md, SliceHub Three Directions.md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E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3C76D"/>
                </a:solidFill>
              </a:defRPr>
            </a:pPr>
            <a:r>
              <a:t>Storefront PWA — mock wide (1280×720) z repo</a:t>
            </a:r>
          </a:p>
        </p:txBody>
      </p:sp>
      <p:pic>
        <p:nvPicPr>
          <p:cNvPr id="3" name="Picture 2" descr="online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11155680" cy="62750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26364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A096"/>
                </a:solidFill>
              </a:defRPr>
            </a:pPr>
            <a:r>
              <a:t>Plik źródłowy: modules/online/screenshots/wide.svg — materiał do wniosku / presskit.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E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3C76D"/>
                </a:solidFill>
              </a:defRPr>
            </a:pPr>
            <a:r>
              <a:t>Storefront PWA — mock mobile (390×844) z repo</a:t>
            </a:r>
          </a:p>
        </p:txBody>
      </p:sp>
      <p:pic>
        <p:nvPicPr>
          <p:cNvPr id="3" name="Picture 2" descr="online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11155680" cy="241420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26364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A096"/>
                </a:solidFill>
              </a:defRPr>
            </a:pPr>
            <a:r>
              <a:t>Plik źródłowy: modules/online/screenshots/narrow.svg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E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3C76D"/>
                </a:solidFill>
              </a:defRPr>
            </a:pPr>
            <a:r>
              <a:t>POS PWA — mock wide z repo</a:t>
            </a:r>
          </a:p>
        </p:txBody>
      </p:sp>
      <p:pic>
        <p:nvPicPr>
          <p:cNvPr id="3" name="Picture 2" descr="pos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11155680" cy="62750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26364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A096"/>
                </a:solidFill>
              </a:defRPr>
            </a:pPr>
            <a:r>
              <a:t>Plik źródłowy: modules/pos/screenshots/wide.svg — dark battlefield theme.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E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3C76D"/>
                </a:solidFill>
              </a:defRPr>
            </a:pPr>
            <a:r>
              <a:t>POS PWA — mock mobile z repo</a:t>
            </a:r>
          </a:p>
        </p:txBody>
      </p:sp>
      <p:pic>
        <p:nvPicPr>
          <p:cNvPr id="3" name="Picture 2" descr="pos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11155680" cy="241420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26364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A096"/>
                </a:solidFill>
              </a:defRPr>
            </a:pPr>
            <a:r>
              <a:t>Plik źródłowy: modules/pos/screenshots/narrow.svg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E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3C76D"/>
                </a:solidFill>
              </a:defRPr>
            </a:pPr>
            <a:r>
              <a:t>Jak odpalić demo (hosting / lokalnie)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E6E1D7"/>
                </a:solidFill>
              </a:defRPr>
            </a:pPr>
            <a:r>
              <a:t>Migracje + setup: database/README.md, INSTRUKCJA_CZYSTY_START.md.</a:t>
            </a:r>
          </a:p>
          <a:p>
            <a:pPr>
              <a:spcAft>
                <a:spcPts val="1000"/>
              </a:spcAft>
              <a:defRPr sz="1500">
                <a:solidFill>
                  <a:srgbClr val="E6E1D7"/>
                </a:solidFill>
              </a:defRPr>
            </a:pPr>
            <a:r>
              <a:t>Seed pełnego tenantu demo: scripts/seed_demo_all.php (jednorazowo — uwaga na duplikaty zamówień).</a:t>
            </a:r>
          </a:p>
          <a:p>
            <a:pPr>
              <a:spcAft>
                <a:spcPts val="1000"/>
              </a:spcAft>
              <a:defRPr sz="1500">
                <a:solidFill>
                  <a:srgbClr val="E6E1D7"/>
                </a:solidFill>
              </a:defRPr>
            </a:pPr>
            <a:r>
              <a:t>Konta PIN po seedzie: _docs/DEPLOYMENT_HOSTING.md (rotacja PIN przed produkcją).</a:t>
            </a:r>
          </a:p>
          <a:p>
            <a:pPr>
              <a:defRPr sz="1100" i="1">
                <a:solidFill>
                  <a:srgbClr val="A0968C"/>
                </a:solidFill>
              </a:defRPr>
            </a:pPr>
            <a:r>
              <a:t>Źródło: _docs/DEPLOYMENT_HOSTING.md, database/INSTRUKCJA_CZYSTY_START.md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E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3C76D"/>
                </a:solidFill>
              </a:defRPr>
            </a:pPr>
            <a:r>
              <a:t>The Ask — Spark 3.0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E6E1D7"/>
                </a:solidFill>
              </a:defRPr>
            </a:pPr>
            <a:r>
              <a:t>Środki + mentoring na domknięcie Fazy F (Counter + Living Table) oraz 3 piloty produkcyjne.</a:t>
            </a:r>
          </a:p>
          <a:p>
            <a:pPr>
              <a:spcAft>
                <a:spcPts val="1000"/>
              </a:spcAft>
              <a:defRPr sz="1500">
                <a:solidFill>
                  <a:srgbClr val="E6E1D7"/>
                </a:solidFill>
              </a:defRPr>
            </a:pPr>
            <a:r>
              <a:t>KPI propozycja: konwersja doorway→koszyk vs. layout statyczny; Harmony avg per kategoria; brak P0 cross-tenant.</a:t>
            </a:r>
          </a:p>
          <a:p>
            <a:pPr>
              <a:spcAft>
                <a:spcPts val="1000"/>
              </a:spcAft>
              <a:defRPr sz="1500">
                <a:solidFill>
                  <a:srgbClr val="E6E1D7"/>
                </a:solidFill>
              </a:defRPr>
            </a:pPr>
            <a:r>
              <a:t>Materiały źródłowe decku: _docs/pitchdeck_SPARK_3_ACCELERATOR.md + ten PPTX/PDF (generowane skryptem).</a:t>
            </a:r>
          </a:p>
          <a:p>
            <a:pPr>
              <a:defRPr sz="1100" i="1">
                <a:solidFill>
                  <a:srgbClr val="A0968C"/>
                </a:solidFill>
              </a:defRPr>
            </a:pPr>
            <a:r>
              <a:t>Uzupełnij zespół, ARPU, CAC — brak w repo, celowo nie wymyślane.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8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4E7D2"/>
                </a:solidFill>
              </a:defRPr>
            </a:pPr>
            <a:r>
              <a:t>Dziękujemy</a:t>
            </a:r>
          </a:p>
          <a:p>
            <a:pPr>
              <a:defRPr sz="2000">
                <a:solidFill>
                  <a:srgbClr val="F3C76D"/>
                </a:solidFill>
              </a:defRPr>
            </a:pPr>
            <a:r>
              <a:t>SliceHub Enterprise · kontakt: (uzupełnij) · demo wg DEPLOYMENT_HOSTING.md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